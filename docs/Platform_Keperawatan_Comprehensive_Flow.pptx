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Platform Keperawatan Indonesia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8BDF8"/>
                </a:solidFill>
                <a:latin typeface="Segoe UI"/>
              </a:defRPr>
            </a:pPr>
            <a:r>
              <a:t>Comprehensive Application Flow Documentation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017520"/>
            <a:ext cx="3047695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Laravel 11 · Blade · Tailwind CSS · REST API v1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1691640" cy="8686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4023360"/>
            <a:ext cx="54864" cy="8686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8BDF8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262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Models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39" y="4023360"/>
            <a:ext cx="1691640" cy="8686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39" y="4023360"/>
            <a:ext cx="54864" cy="86868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19" y="411480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4ADE80"/>
                </a:solidFill>
                <a:latin typeface="Segoe UI"/>
              </a:defRPr>
            </a:pPr>
            <a:r>
              <a:t>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19" y="45262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Controllers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4023360"/>
            <a:ext cx="1691640" cy="8686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59" y="4023360"/>
            <a:ext cx="54864" cy="8686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39" y="411480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BBF24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39" y="45262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Services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79" y="4023360"/>
            <a:ext cx="1691640" cy="8686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79" y="4023360"/>
            <a:ext cx="54864" cy="86868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59" y="411480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472B6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45262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User Roles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599" y="4023360"/>
            <a:ext cx="1691640" cy="8686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599" y="4023360"/>
            <a:ext cx="54864" cy="8686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9" y="411480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A78BFA"/>
                </a:solidFill>
                <a:latin typeface="Segoe UI"/>
              </a:defRPr>
            </a:pPr>
            <a:r>
              <a:t>140+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9" y="45262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Endpoints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04120" y="4023360"/>
            <a:ext cx="1691640" cy="8686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104120" y="4023360"/>
            <a:ext cx="54864" cy="868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87000" y="411480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6B6D4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0" y="45262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Migrations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Dokumen Teknis — Dipelajari Kode Demi Kode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Daftar 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Struktur Presentasi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463040"/>
            <a:ext cx="411480" cy="411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Arsitektur Sistem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057400"/>
            <a:ext cx="411480" cy="41148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Entity Relationship Diagram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651760"/>
            <a:ext cx="411480" cy="4114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697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Sistem Peran (RBAC)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246120"/>
            <a:ext cx="411480" cy="41148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Alur Autentikasi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840480"/>
            <a:ext cx="411480" cy="4114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886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Flow Perawat (Nurse)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434840"/>
            <a:ext cx="411480" cy="4114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Flow Mitra/Faskes/Headhunter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074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Flow Kampus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1463040"/>
            <a:ext cx="411480" cy="41148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Flow Lembaga Pelatihan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2057400"/>
            <a:ext cx="411480" cy="4114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Flow Regulator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0" y="2651760"/>
            <a:ext cx="411480" cy="41148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2697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Flow Admin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3246120"/>
            <a:ext cx="411480" cy="4114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REST API v1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0" y="3840480"/>
            <a:ext cx="411480" cy="4114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3886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Career Events &amp; Webhook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4434840"/>
            <a:ext cx="411480" cy="411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Notification &amp; Scheduled Jobs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0" y="5029200"/>
            <a:ext cx="411480" cy="41148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5074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Data Verification End-to-End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Arsitektur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Technology Stack &amp; Struktur Direktori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59436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Layer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Teknologi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Keterangan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Framework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Laravel 11 (PHP)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Full-stack MVC framework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Frontend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Blade + Tailwind CSS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Server-side rendering + utility CSS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Build Tool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Vite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Asset bundling &amp; HMR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Database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SQLite (dev) / PostgreSQL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Relational DB dengan UUID PK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Queue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Laravel Queue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Sync/database driver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Auth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Laravel Breeze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Session-based authentication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API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REST API v1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API Key + HMAC Signature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Identity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UUID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Semua model menggunakan UUID PK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937760"/>
            <a:ext cx="11277295" cy="16459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846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📁 Struktur Direktori Utama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DE80"/>
                </a:solidFill>
                <a:latin typeface="Segoe UI"/>
              </a:defRPr>
            </a:pPr>
            <a:r>
              <a:t>app/Http/Controllers/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52120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43 controllers (Admin, Api, Auth, Kampus, Lembaga, Mitra, Perawat, Regulator)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DE80"/>
                </a:solidFill>
                <a:latin typeface="Segoe UI"/>
              </a:defRPr>
            </a:pPr>
            <a:r>
              <a:t>app/Models/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55321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31 Eloquent models dengan UUID &amp; perawat_nik traits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52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DE80"/>
                </a:solidFill>
                <a:latin typeface="Segoe UI"/>
              </a:defRPr>
            </a:pPr>
            <a:r>
              <a:t>app/Services/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5852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22 business logic services (verification, import, sync, notification)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17219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DE80"/>
                </a:solidFill>
                <a:latin typeface="Segoe UI"/>
              </a:defRPr>
            </a:pPr>
            <a:r>
              <a:t>app/Observers/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617219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3 observers (CareerEvent, PerawatRelated, WebhookVerified)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Entity Relationship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Relasi Antar Entitas — Dihubungkan via perawat_nik (NIK 16 digit)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54880" y="2926080"/>
            <a:ext cx="2377440" cy="640080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🩺 PERAWAT</a:t>
            </a:r>
            <a:br/>
            <a:r>
              <a:t>(nik, nama, status)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2377440" cy="6400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👤 User</a:t>
            </a:r>
            <a:br/>
            <a:r>
              <a:t>(role, status, email)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371600"/>
            <a:ext cx="2377440" cy="6400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📋 DataLegalitas</a:t>
            </a:r>
            <a:br/>
            <a:r>
              <a:t>(STR, status, dokumen)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371600"/>
            <a:ext cx="2377440" cy="6400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🎓 RiwayatPendidikan</a:t>
            </a:r>
            <a:br/>
            <a:r>
              <a:t>(jenjang, IPK, institusi)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371600"/>
            <a:ext cx="2377440" cy="6400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📜 SertifikasiKompetensi</a:t>
            </a:r>
            <a:br/>
            <a:r>
              <a:t>(nama, verifikasi)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389120"/>
            <a:ext cx="2377440" cy="6400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💼 RiwayatPekerjaan</a:t>
            </a:r>
            <a:br/>
            <a:r>
              <a:t>(posisi, mitra, verified)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4389120"/>
            <a:ext cx="2377440" cy="6400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📝 Lamaran</a:t>
            </a:r>
            <a:br/>
            <a:r>
              <a:t>(status, lowongan)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4389120"/>
            <a:ext cx="2377440" cy="6400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🤝 Rekrutmen</a:t>
            </a:r>
            <a:br/>
            <a:r>
              <a:t>(locked, hired, released)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4389120"/>
            <a:ext cx="2377440" cy="6400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📅 CareerEvent</a:t>
            </a:r>
            <a:br/>
            <a:r>
              <a:t>(event_key, category)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2743200"/>
            <a:ext cx="2377440" cy="6400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🏢 MitraPengguna</a:t>
            </a:r>
            <a:br/>
            <a:r>
              <a:t>(nama, tipe)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926080"/>
            <a:ext cx="2377440" cy="6400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🏫 InstitusiPendidikan</a:t>
            </a:r>
            <a:br/>
            <a:r>
              <a:t>(nama, kode)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4389120"/>
            <a:ext cx="2286000" cy="6400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📢 Lowongan</a:t>
            </a:r>
            <a:br/>
            <a:r>
              <a:t>(judul, status, penempatan)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5669280"/>
            <a:ext cx="11430000" cy="6400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715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BF24"/>
                </a:solidFill>
                <a:latin typeface="Segoe UI"/>
              </a:defRPr>
            </a:pPr>
            <a:r>
              <a:t>⚠️  PENTING: Seluruh data portfolio dihubungkan via perawat_nik (NIK 16 digit), BUKAN perawat_id. Memungkinkan integrasi data lintas sumber (Kampus, Lembaga, Regulator, Mitra).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Sistem Peran (RBAC)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8 Peran Pengguna dengan Role-Based Access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0058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371600"/>
                <a:gridCol w="3200400"/>
                <a:gridCol w="320040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#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Deskripsi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Middleware Guard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Prefix URL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perawat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Tenaga perawat / nurse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role:perawat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/perawat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mitra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Mitra pengguna / employer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role:mitra,faskes,headhunter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/mitra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faskes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Fasilitas kesehatan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role:mitra,faskes,headhunter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/mitra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headhunter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Agen perekrut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role:mitra,faskes,headhunter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/mitra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kampus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Institusi pendidikan keperawatan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role:kampus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/kampus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lembaga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Lembaga pelatihan &amp; sertifikasi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role:lembaga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/lembaga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regulator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Regulator (PPNI, Kemenkes, dll)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role:regulator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/regulator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admin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Super administrator platform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role:admin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/admin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📌 Status Flow User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394960"/>
            <a:ext cx="1645920" cy="54864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AB308"/>
                </a:solidFill>
                <a:latin typeface="Segoe UI"/>
              </a:defRPr>
            </a:pPr>
            <a:r>
              <a:t>📝 Register</a:t>
            </a:r>
            <a:br/>
            <a:r>
              <a:t>(status=pending)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94560" y="5532120"/>
            <a:ext cx="548640" cy="22860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34640" y="5394960"/>
            <a:ext cx="1828800" cy="54864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ADE80"/>
                </a:solidFill>
                <a:latin typeface="Segoe UI"/>
              </a:defRPr>
            </a:pPr>
            <a:r>
              <a:t>✅ Admin Approve</a:t>
            </a:r>
            <a:br/>
            <a:r>
              <a:t>(status=active)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754880" y="5532120"/>
            <a:ext cx="548640" cy="22860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94960" y="5394960"/>
            <a:ext cx="1828800" cy="54864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F4444"/>
                </a:solidFill>
                <a:latin typeface="Segoe UI"/>
              </a:defRPr>
            </a:pPr>
            <a:r>
              <a:t>🚫 Admin Suspend</a:t>
            </a:r>
            <a:br/>
            <a:r>
              <a:t>(status=suspended)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315200" y="5532120"/>
            <a:ext cx="548640" cy="22860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55279" y="5394960"/>
            <a:ext cx="1828800" cy="54864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ADE80"/>
                </a:solidFill>
                <a:latin typeface="Segoe UI"/>
              </a:defRPr>
            </a:pPr>
            <a:r>
              <a:t>♻️ Admin Activate</a:t>
            </a:r>
            <a:br/>
            <a:r>
              <a:t>(status=active)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⚙️ Middleware EnsureUserRole: pending → redirect ke halaman approval | suspended → 403 Forbidden | active → akses penuh sesuai role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Alur Autentikasi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Registrasi, Login, dan Middleware 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🔐 Flow Registrasi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828800"/>
            <a:ext cx="2011680" cy="91440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1. Register</a:t>
            </a:r>
            <a:br/>
            <a:br/>
            <a:r>
              <a:t>User mengisi: nama, email,</a:t>
            </a:r>
            <a:br/>
            <a:r>
              <a:t>password, role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68880" y="2148840"/>
            <a:ext cx="182880" cy="22860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97480" y="1828800"/>
            <a:ext cx="2011680" cy="91440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2. Create User</a:t>
            </a:r>
            <a:br/>
            <a:br/>
            <a:r>
              <a:t>User dibuat dengan</a:t>
            </a:r>
            <a:br/>
            <a:r>
              <a:t>status=pending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00600" y="2148840"/>
            <a:ext cx="182880" cy="228600"/>
          </a:xfrm>
          <a:prstGeom prst="right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0" y="1828800"/>
            <a:ext cx="2011680" cy="91440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3. Create Perawat</a:t>
            </a:r>
            <a:br/>
            <a:br/>
            <a:r>
              <a:t>Jika role=perawat,</a:t>
            </a:r>
            <a:br/>
            <a:r>
              <a:t>auto-create Perawat record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32320" y="2148840"/>
            <a:ext cx="182880" cy="22860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60919" y="1828800"/>
            <a:ext cx="2011680" cy="91440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4. Email Verify</a:t>
            </a:r>
            <a:br/>
            <a:br/>
            <a:r>
              <a:t>Kirim email verifikasi</a:t>
            </a:r>
            <a:br/>
            <a:r>
              <a:t>ke alamat email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64039" y="2148840"/>
            <a:ext cx="182880" cy="228600"/>
          </a:xfrm>
          <a:prstGeom prst="rightArrow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92640" y="1828800"/>
            <a:ext cx="2011680" cy="91440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5. Admin Approve</a:t>
            </a:r>
            <a:br/>
            <a:br/>
            <a:r>
              <a:t>Admin review &amp; approve</a:t>
            </a:r>
            <a:br/>
            <a:r>
              <a:t>status → active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017520"/>
            <a:ext cx="11155680" cy="36576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044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  <a:latin typeface="Segoe UI"/>
              </a:defRPr>
            </a:pPr>
            <a:r>
              <a:t>📋 Registrable Roles: kampus, lembaga, mitra, headhunter, regulator, perawat  |  admin &amp; faskes → hanya via admin panel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7490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🔗 Middleware Chain (per request)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4206240"/>
            <a:ext cx="1645920" cy="5029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Authenticated?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965960" y="4343400"/>
            <a:ext cx="22860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240280" y="4206240"/>
            <a:ext cx="1645920" cy="5029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ADE80"/>
                </a:solidFill>
                <a:latin typeface="Segoe UI"/>
              </a:defRPr>
            </a:pPr>
            <a:r>
              <a:t>Email Verified?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931920" y="4343400"/>
            <a:ext cx="22860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06240" y="4206240"/>
            <a:ext cx="1645920" cy="5029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BBF24"/>
                </a:solidFill>
                <a:latin typeface="Segoe UI"/>
              </a:defRPr>
            </a:pPr>
            <a:r>
              <a:t>Role Match?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897880" y="4343400"/>
            <a:ext cx="22860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72199" y="4206240"/>
            <a:ext cx="1645920" cy="5029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AB308"/>
                </a:solidFill>
                <a:latin typeface="Segoe UI"/>
              </a:defRPr>
            </a:pPr>
            <a:r>
              <a:t>Status = pending?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863839" y="4343400"/>
            <a:ext cx="22860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38160" y="4206240"/>
            <a:ext cx="1645920" cy="5029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2C55E"/>
                </a:solidFill>
                <a:latin typeface="Segoe UI"/>
              </a:defRPr>
            </a:pPr>
            <a:r>
              <a:t>Status = active?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829800" y="4343400"/>
            <a:ext cx="22860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104120" y="4206240"/>
            <a:ext cx="1645920" cy="5029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2C55E"/>
                </a:solidFill>
                <a:latin typeface="Segoe UI"/>
              </a:defRPr>
            </a:pPr>
            <a:r>
              <a:t>✅ Controller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4846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F4444"/>
                </a:solidFill>
                <a:latin typeface="Segoe UI"/>
              </a:defRPr>
            </a:pPr>
            <a:r>
              <a:t>❌ No Auth → Redirect /login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846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AB308"/>
                </a:solidFill>
                <a:latin typeface="Segoe UI"/>
              </a:defRPr>
            </a:pPr>
            <a:r>
              <a:t>❌ No Email → Verify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4846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F4444"/>
                </a:solidFill>
                <a:latin typeface="Segoe UI"/>
              </a:defRPr>
            </a:pPr>
            <a:r>
              <a:t>❌ Wrong Role → 403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199" y="4846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BBF24"/>
                </a:solidFill>
                <a:latin typeface="Segoe UI"/>
              </a:defRPr>
            </a:pPr>
            <a:r>
              <a:t>⏳ Pending → Approval page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4846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F4444"/>
                </a:solidFill>
                <a:latin typeface="Segoe UI"/>
              </a:defRPr>
            </a:pPr>
            <a:r>
              <a:t>🚫 Suspended → 403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394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🏠 Dashboard Routing per Role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457200" y="576072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00400"/>
                <a:gridCol w="50292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Dashboard Route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Controller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perawat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/perawat/dashboard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ProfilController::show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mitra/faskes/headhunter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/mitra/lowongan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LowonganController::index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kampus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/kampus/lulusan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LulusanController::index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lembaga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/lembaga/dashboard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LembagaDashboardController::index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regulator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/regulator/analytics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AnalyticsController::index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admin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/admin/dashboard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AdminDashboardController::index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Flow Perawat — Profil &amp;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Dashboard, Status Kesiapan, dan Profil Publik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🎯 Kalkulasi Status Kesiapan (PerawatStatusService)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2926080" cy="21031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74520"/>
            <a:ext cx="2834640" cy="3657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2057400"/>
            <a:ext cx="457200" cy="45720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Pendidikan</a:t>
            </a:r>
            <a:br/>
            <a:r>
              <a:t>Terverifikasi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80360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RiwayatPendidikan</a:t>
            </a:r>
            <a:br/>
            <a:r>
              <a:t>status = verified</a:t>
            </a:r>
            <a:br/>
            <a:r>
              <a:t>(dari Kampus)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828800"/>
            <a:ext cx="2926080" cy="21031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03320" y="1874520"/>
            <a:ext cx="283464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840480" y="2057400"/>
            <a:ext cx="457200" cy="4572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6060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Sertifikasi</a:t>
            </a:r>
            <a:br/>
            <a:r>
              <a:t>Terverifikasi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880360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SertifikasiKompetensi</a:t>
            </a:r>
            <a:br/>
            <a:r>
              <a:t>status ∈ [verified, valid]</a:t>
            </a:r>
            <a:br/>
            <a:r>
              <a:t>(dari Lembaga)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1828800"/>
            <a:ext cx="2926080" cy="21031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03720" y="1874520"/>
            <a:ext cx="283464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0" y="2057400"/>
            <a:ext cx="457200" cy="4572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⚖️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6060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STR Aktif &amp;</a:t>
            </a:r>
            <a:br/>
            <a:r>
              <a:t>Data Verified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880360"/>
            <a:ext cx="2651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DataLegalitas</a:t>
            </a:r>
            <a:br/>
            <a:r>
              <a:t>status_str = aktif</a:t>
            </a:r>
            <a:br/>
            <a:r>
              <a:t>data_status = verified</a:t>
            </a:r>
            <a:br/>
            <a:r>
              <a:t>(dari Regulator)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784080" y="2560320"/>
            <a:ext cx="457200" cy="22860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241280" y="2103120"/>
            <a:ext cx="1645920" cy="109728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ADE80"/>
                </a:solidFill>
                <a:latin typeface="Segoe UI"/>
              </a:defRPr>
            </a:pPr>
            <a:r>
              <a:t>3/3 ✅</a:t>
            </a:r>
            <a:br/>
            <a:br/>
            <a:r>
              <a:t>READY</a:t>
            </a:r>
            <a:br/>
            <a:r>
              <a:t>TO HIRE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3383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&lt; 3 → DRAFT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206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👷 Status Ketenagakerjaan (auto-calculated)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466344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743200"/>
                <a:gridCol w="45720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Kondisi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Keterangan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Hired / Pekerjaan Aktif Verified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BEKERJA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Sedang aktif bekerja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Ada Riwayat Verified (tidak aktif)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BERPENGALAMAN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Punya pengalaman terverifikasi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Tidak ada riwayat verified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FRESH_GRADUATE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Lulusan baru tanpa pengalaman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57200" y="5943600"/>
            <a:ext cx="11247120" cy="54864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971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472B6"/>
                </a:solidFill>
                <a:latin typeface="Segoe UI"/>
              </a:defRPr>
            </a:pPr>
            <a:r>
              <a:t>🌐 Profil Publik: Perawat bisa mengaktifkan profil publik → generate token 48 char → akses di /p/{token} tanpa login. Bisa download CV HTML/PDF.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Flow Perawat — Melamar Lowongan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Browse, Apply, dan Kelola Lamaran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✅ Validasi Sebelum Apply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783080"/>
            <a:ext cx="320040" cy="3200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Segoe UI"/>
              </a:defRPr>
            </a:pPr>
            <a:r>
              <a:t>status_kesiapan = ready_to_hire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783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Profil harus lengkap (pendidikan + sertifikasi + STR)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286000"/>
            <a:ext cx="320040" cy="3200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  <a:latin typeface="Segoe UI"/>
              </a:defRPr>
            </a:pPr>
            <a:r>
              <a:t>Tidak dalam rekrutmen aktif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86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Tidak boleh locked/hired oleh mitra manapun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788920"/>
            <a:ext cx="320040" cy="3200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788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Segoe UI"/>
              </a:defRPr>
            </a:pPr>
            <a:r>
              <a:t>Belum pernah melamar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88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Cek duplicate lamaran ke lowongan yang sama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291840"/>
            <a:ext cx="320040" cy="32004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291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72B6"/>
                </a:solidFill>
                <a:latin typeface="Segoe UI"/>
              </a:defRPr>
            </a:pPr>
            <a:r>
              <a:t>Lowongan masih dibuka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291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status=dibuka &amp; published_at not null, row locked FOR UPDATE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931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📨 Flow Apply Lowongan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4389120"/>
            <a:ext cx="1371600" cy="7315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Browse</a:t>
            </a:r>
            <a:br/>
            <a:r>
              <a:t>Lowongan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691640" y="4617720"/>
            <a:ext cx="228600" cy="22860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965960" y="4389120"/>
            <a:ext cx="1371600" cy="7315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Lihat</a:t>
            </a:r>
            <a:br/>
            <a:r>
              <a:t>Detail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383280" y="4617720"/>
            <a:ext cx="228600" cy="22860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657600" y="4389120"/>
            <a:ext cx="1371600" cy="7315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Submit</a:t>
            </a:r>
            <a:br/>
            <a:r>
              <a:t>Lamaran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074920" y="4617720"/>
            <a:ext cx="228600" cy="228600"/>
          </a:xfrm>
          <a:prstGeom prst="right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349240" y="4389120"/>
            <a:ext cx="1371600" cy="7315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Validasi</a:t>
            </a:r>
            <a:br/>
            <a:r>
              <a:t>4 Rules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766560" y="4617720"/>
            <a:ext cx="228600" cy="228600"/>
          </a:xfrm>
          <a:prstGeom prst="rightArrow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40880" y="4389120"/>
            <a:ext cx="1371600" cy="7315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Create</a:t>
            </a:r>
            <a:br/>
            <a:r>
              <a:t>Lamaran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458200" y="4617720"/>
            <a:ext cx="228600" cy="228600"/>
          </a:xfrm>
          <a:prstGeom prst="rightArrow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732520" y="4389120"/>
            <a:ext cx="1371600" cy="7315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Audit</a:t>
            </a:r>
            <a:br/>
            <a:r>
              <a:t>Log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10149840" y="4617720"/>
            <a:ext cx="228600" cy="228600"/>
          </a:xfrm>
          <a:prstGeom prst="rightArrow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424160" y="4389120"/>
            <a:ext cx="1371600" cy="7315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Notify</a:t>
            </a:r>
            <a:br/>
            <a:r>
              <a:t>Mitra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394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📋 Fitur Lain Perawat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457200" y="576072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50292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Fitur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Endpoint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Keterangan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Riwayat Pekerjaan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CRUD /perawat/riwayat-pekerjaan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Self-report (verifikasi=pending), edit hanya jika pending/rejected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STR Sync Request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GET/POST /perawat/str-sync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Request sinkronisasi STR → data_status=pending_sync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Pelatihan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GET /perawat/pelatihan, POST daftar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Browse &amp; daftar pelatihan terbuka dari lembaga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CV Download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GET /perawat/cv, /cv-pdf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Hanya include riwayat pekerjaan yang verified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Notifikasi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GET /perawat/notifikasi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Lowongan baru, status lamaran, legalitas, sertifikasi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Flow Mitra — Manajemen Lowongan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Buat, Kelola, dan Tutup Lowongan Kerja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📢 Lifecycle Lowongan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2011680" cy="7315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📝 CREATE</a:t>
            </a:r>
            <a:br/>
            <a:br/>
            <a:r>
              <a:t>Judul, Deskripsi,</a:t>
            </a:r>
            <a:br/>
            <a:r>
              <a:t>Kriteria, Penempatan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60320" y="2148840"/>
            <a:ext cx="457200" cy="22860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08960" y="1920240"/>
            <a:ext cx="2011680" cy="73152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4ADE80"/>
                </a:solidFill>
                <a:latin typeface="Segoe UI"/>
              </a:defRPr>
            </a:pPr>
            <a:r>
              <a:t>✅ DIBUKA</a:t>
            </a:r>
            <a:br/>
            <a:br/>
            <a:r>
              <a:t>status=dibuka</a:t>
            </a:r>
            <a:br/>
            <a:r>
              <a:t>published_at=now()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212080" y="2148840"/>
            <a:ext cx="457200" cy="228600"/>
          </a:xfrm>
          <a:prstGeom prst="rightArrow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60720" y="1920240"/>
            <a:ext cx="2011680" cy="7315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AB308"/>
                </a:solidFill>
                <a:latin typeface="Segoe UI"/>
              </a:defRPr>
            </a:pPr>
            <a:r>
              <a:t>🔒 DITUTUP</a:t>
            </a:r>
            <a:br/>
            <a:br/>
            <a:r>
              <a:t>status=ditutup</a:t>
            </a:r>
            <a:br/>
            <a:r>
              <a:t>Tidak terima lamaran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63840" y="2148840"/>
            <a:ext cx="457200" cy="22860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0" y="1920240"/>
            <a:ext cx="2011680" cy="7315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4ADE80"/>
                </a:solidFill>
                <a:latin typeface="Segoe UI"/>
              </a:defRPr>
            </a:pPr>
            <a:r>
              <a:t>♻️ REOPEN</a:t>
            </a:r>
            <a:br/>
            <a:br/>
            <a:r>
              <a:t>status=dibuka</a:t>
            </a:r>
            <a:br/>
            <a:r>
              <a:t>Bisa terima lagi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880360"/>
            <a:ext cx="11247120" cy="457200"/>
          </a:xfrm>
          <a:prstGeom prst="roundRect">
            <a:avLst/>
          </a:prstGeom>
          <a:solidFill>
            <a:srgbClr val="2D1A1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077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Segoe UI"/>
              </a:defRPr>
            </a:pPr>
            <a:r>
              <a:t>🗑️ DELETE: Saat lowongan dihapus, semua lamaran aktif (status=diajukan/diproses) otomatis dibatalkan (status=dibatalkan)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66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🔔 Auto-Notification saat Lowongan Dibuat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023360"/>
            <a:ext cx="1828800" cy="6400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Lowongan</a:t>
            </a:r>
            <a:br/>
            <a:r>
              <a:t>Dibuat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331719" y="4206240"/>
            <a:ext cx="274320" cy="22860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651760" y="4023360"/>
            <a:ext cx="1828800" cy="6400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Dispatch</a:t>
            </a:r>
            <a:br/>
            <a:r>
              <a:t>Job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526279" y="4206240"/>
            <a:ext cx="274320" cy="22860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846320" y="4023360"/>
            <a:ext cx="1828800" cy="6400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Match</a:t>
            </a:r>
            <a:br/>
            <a:r>
              <a:t>Perawat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720839" y="4206240"/>
            <a:ext cx="274320" cy="228600"/>
          </a:xfrm>
          <a:prstGeom prst="right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40879" y="4023360"/>
            <a:ext cx="1828800" cy="6400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Filter by</a:t>
            </a:r>
            <a:br/>
            <a:r>
              <a:t>Kriteria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915398" y="4206240"/>
            <a:ext cx="274320" cy="228600"/>
          </a:xfrm>
          <a:prstGeom prst="rightArrow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35440" y="4023360"/>
            <a:ext cx="1828800" cy="6400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Notify</a:t>
            </a:r>
            <a:br/>
            <a:r>
              <a:t>Perawat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Matching criteria: status_kesiapan=ready, status_str sesuai kriteria, sertifikat sesuai kriteria. Buffer 200 perawat per batch.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03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📊 Field Lowongan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57200" y="566928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54864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Field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Tipe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Keterangan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judul, deskripsi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String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Informasi lowongan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kriteria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JSON Array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Kriteria matching (status_str, sertifikat)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tipe_penempatan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Enum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domestik | luar_negeri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negara/provinsi/kota_penempatan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String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Lokasi penempatan (negara hanya jika luar_negeri)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Enum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dibuka | ditutup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Flow Mitra — Recruitment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Proses Lamaran: Lock → Hire → Complete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📋 State Machine — Lamaran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2103120" cy="5029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DIAJUKAN</a:t>
            </a:r>
            <a:br/>
            <a:r>
              <a:t>(Perawat Apply)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920240"/>
            <a:ext cx="2103120" cy="5029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BBF24"/>
                </a:solidFill>
                <a:latin typeface="Segoe UI"/>
              </a:defRPr>
            </a:pPr>
            <a:r>
              <a:t>DIPROSES</a:t>
            </a:r>
            <a:br/>
            <a:r>
              <a:t>(Mitra Lock)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554480"/>
            <a:ext cx="2103120" cy="5029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4ADE80"/>
                </a:solidFill>
                <a:latin typeface="Segoe UI"/>
              </a:defRPr>
            </a:pPr>
            <a:r>
              <a:t>DITERIMA</a:t>
            </a:r>
            <a:br/>
            <a:r>
              <a:t>(Mitra Hire)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2286000"/>
            <a:ext cx="2103120" cy="5029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F4444"/>
                </a:solidFill>
                <a:latin typeface="Segoe UI"/>
              </a:defRPr>
            </a:pPr>
            <a:r>
              <a:t>DITOLAK</a:t>
            </a:r>
            <a:br/>
            <a:r>
              <a:t>(Mitra Reject)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2743200"/>
            <a:ext cx="2103120" cy="5029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DIBATALKAN</a:t>
            </a:r>
            <a:br/>
            <a:r>
              <a:t>(Perawat Cancel)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51760" y="2057400"/>
            <a:ext cx="320040" cy="228600"/>
          </a:xfrm>
          <a:prstGeom prst="right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5212080" y="1691640"/>
            <a:ext cx="320040" cy="22860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5212080" y="2423160"/>
            <a:ext cx="320040" cy="22860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383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🤝 State Machine — Rekrutmen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2286000" cy="5029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AB308"/>
                </a:solidFill>
                <a:latin typeface="Segoe UI"/>
              </a:defRPr>
            </a:pPr>
            <a:r>
              <a:t>LOCKED</a:t>
            </a:r>
            <a:br/>
            <a:r>
              <a:t>(Kandidat dikunci)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3840480"/>
            <a:ext cx="2286000" cy="5029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ADE80"/>
                </a:solidFill>
                <a:latin typeface="Segoe UI"/>
              </a:defRPr>
            </a:pPr>
            <a:r>
              <a:t>HIRED</a:t>
            </a:r>
            <a:br/>
            <a:r>
              <a:t>(Kandidat di-hire)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840480"/>
            <a:ext cx="2286000" cy="5029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RELEASED</a:t>
            </a:r>
            <a:br/>
            <a:r>
              <a:t>(Kandidat dilepas)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834640" y="3977639"/>
            <a:ext cx="320040" cy="22860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5577840" y="3977639"/>
            <a:ext cx="32004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4572000"/>
            <a:ext cx="11247120" cy="502920"/>
          </a:xfrm>
          <a:prstGeom prst="roundRect">
            <a:avLst/>
          </a:prstGeom>
          <a:solidFill>
            <a:srgbClr val="2D1A1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994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Segoe UI"/>
              </a:defRPr>
            </a:pPr>
            <a:r>
              <a:t>🛡️ Anti-Poaching: Kandidat locked/hired oleh mitra lain → tidak bisa diproses (409 Conflict). Perawat locked tidak bisa apply lowongan baru.</a:t>
            </a:r>
            <a:br/>
            <a:r>
              <a:t>Semua operasi lock/hire menggunakan DB transaction + lockForUpdate() untuk mencegah race condition.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212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⚡ Side Effects saat HIRE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6235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DE80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6235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Rekrutmen → HIRED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562356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Record rekrutmen diupdate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8521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8521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Lamaran → DITERIMA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585216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Status lamaran diupdate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0807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472B6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080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Auto-create RiwayatPekerjaan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608076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RiwayatPekerjaanService::startEmployment()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3093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6309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Refresh Status Perawat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630936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PerawatStatusService::refresh() → ketenagakerjaan=BEKERJA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5379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6537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Notify Perawat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653796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LamaranStatusNotification → 'Lamaran Anda diterima'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Flow Mitra — Pencarian Kandidat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Talent Pool dengan 16 Filter Canggih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🔍 Filter Pencarian Kandidat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37360"/>
          <a:ext cx="10972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59436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Filter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Tipe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Keterangan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nama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LIKE search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Pencarian nama perawat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jenis_kelamin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Exact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Filter gender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status_str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Exact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Status STR (aktif/hold/expired)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status_ketenagakerjaan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Exact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fresh_graduate / bekerja / berpengalaman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status_ketersediaan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Exact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available / open_to_offer / not_available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kota, provinsi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Exact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Lokasi perawat (dropdown)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jenjang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Exact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D3 / S1 / Ners / S2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program_studi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LIKE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Pencarian program studi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min_ipk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Numeric ≥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IPK minimum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sertifikat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LIKE + verified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Nama sertifikat terverifikasi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min_pengalaman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Years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Min pengalaman per record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min_pengalaman_total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Months (CTE)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Total akumulasi (overlapping di-merge via SQL CTE)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lokasi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LIKE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Pencarian alamat / tempat lahir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669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📊 Sort Options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ipk_desc / ipk_asc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pengalaman_desc / pengalaman_asc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str_expired / str_active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nama_asc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default (terbaru)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5669280"/>
            <a:ext cx="5760720" cy="91440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571500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AB308"/>
                </a:solidFill>
                <a:latin typeface="Segoe UI"/>
              </a:defRPr>
            </a:pPr>
            <a:r>
              <a:t>🛡️ Anti-Poaching pada Kandidat List:</a:t>
            </a:r>
            <a:br/>
            <a:r>
              <a:t>• Kandidat hired oleh mitra LAIN tidak muncul di list</a:t>
            </a:r>
            <a:br/>
            <a:r>
              <a:t>• Kandidat hired oleh mitra SENDIRI tetap terlihat</a:t>
            </a:r>
            <a:br/>
            <a:r>
              <a:t>• Filter: whereDoesntHave('rekrutmen', hired + bukan milik viewer)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Flow Kampus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Input Lulusan &amp; Tracing Alumni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🎓 Input Data Lulusan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Segoe UI"/>
              </a:defRPr>
            </a:pPr>
            <a:r>
              <a:t>Jalur 1: Input Manual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48840"/>
            <a:ext cx="2011680" cy="5943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Form Input</a:t>
            </a:r>
            <a:br/>
            <a:r>
              <a:t>Lulusan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14600" y="2331720"/>
            <a:ext cx="274320" cy="22860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34640" y="2148840"/>
            <a:ext cx="2011680" cy="5943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Find/Create</a:t>
            </a:r>
            <a:br/>
            <a:r>
              <a:t>Perawat (NIK)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92040" y="2331720"/>
            <a:ext cx="274320" cy="228600"/>
          </a:xfrm>
          <a:prstGeom prst="right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12080" y="2148840"/>
            <a:ext cx="2011680" cy="5943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Create Riwayat</a:t>
            </a:r>
            <a:br/>
            <a:r>
              <a:t>Pendidikan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269480" y="2331720"/>
            <a:ext cx="274320" cy="228600"/>
          </a:xfrm>
          <a:prstGeom prst="rightArrow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89520" y="2148840"/>
            <a:ext cx="2011680" cy="5943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Create User</a:t>
            </a:r>
            <a:br/>
            <a:r>
              <a:t>Account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Segoe UI"/>
              </a:defRPr>
            </a:pPr>
            <a:r>
              <a:t>Jalur 2: CSV Import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46120"/>
            <a:ext cx="1828800" cy="5943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Download</a:t>
            </a:r>
            <a:br/>
            <a:r>
              <a:t>Template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331719" y="3429000"/>
            <a:ext cx="274320" cy="22860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651760" y="3246120"/>
            <a:ext cx="1828800" cy="5943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Upload</a:t>
            </a:r>
            <a:br/>
            <a:r>
              <a:t>CSV File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526279" y="3429000"/>
            <a:ext cx="274320" cy="22860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846320" y="3246120"/>
            <a:ext cx="1828800" cy="5943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Parse &amp;</a:t>
            </a:r>
            <a:br/>
            <a:r>
              <a:t>Validate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720839" y="3429000"/>
            <a:ext cx="274320" cy="228600"/>
          </a:xfrm>
          <a:prstGeom prst="right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40879" y="3246120"/>
            <a:ext cx="1828800" cy="5943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Batch Create</a:t>
            </a:r>
            <a:br/>
            <a:r>
              <a:t>(Deduplicate)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915398" y="3429000"/>
            <a:ext cx="274320" cy="228600"/>
          </a:xfrm>
          <a:prstGeom prst="rightArrow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440" y="3246120"/>
            <a:ext cx="1828800" cy="5943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Result</a:t>
            </a:r>
            <a:br/>
            <a:r>
              <a:t>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114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📝 Data per Lulusan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448056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6868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Kategori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Fields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Identitas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NIK (16 digit), Nama, Email, No HP, Jenis Kelamin, Tempat/Tanggal Lahir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Pendidikan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Jenjang (D3/S1/Ners/S2), Program Studi, Nomor Ijazah, Tanggal Ijazah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Akademik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Tahun Masuk, Tahun Lulus, IPK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Auto-generated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User account (role=perawat, random password), Perawat record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457200" y="5760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📊 Tracing Alumni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080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Status: belum_bekerja, bekerja, wirausaha, lanjut_studi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Kampus bisa update status kerja alumni dan lihat analytics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Data TracingAlumni linked ke InstitusiPendidikan + Perawat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Flow Lembaga Pelatihan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Sertifikasi Kompetensi &amp; Manajemen Pelatihan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📜 Sertifikasi Kompetensi Lifecycle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3200400" cy="54864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AB308"/>
                </a:solidFill>
                <a:latin typeface="Segoe UI"/>
              </a:defRPr>
            </a:pPr>
            <a:r>
              <a:t>PENDING</a:t>
            </a:r>
            <a:br/>
            <a:r>
              <a:t>(Created/Imported)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828800"/>
            <a:ext cx="3200400" cy="54864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4ADE80"/>
                </a:solidFill>
                <a:latin typeface="Segoe UI"/>
              </a:defRPr>
            </a:pPr>
            <a:r>
              <a:t>VERIFIED ✅</a:t>
            </a:r>
            <a:br/>
            <a:r>
              <a:t>(Lembaga Verify)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828800"/>
            <a:ext cx="3200400" cy="54864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REJECTED ❌</a:t>
            </a:r>
            <a:br/>
            <a:r>
              <a:t>(Lembaga Reject)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703320" y="1965960"/>
            <a:ext cx="365760" cy="22860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7360920" y="1965960"/>
            <a:ext cx="365760" cy="228600"/>
          </a:xfrm>
          <a:prstGeom prst="right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265176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3152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Field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Keterangan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nama_sertifikat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Nama sertifikasi kompetensi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nomor_sertifikat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Nomor unik sertifikat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tanggal_terbit / tanggal_kadaluarsa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Masa berlaku sertifikat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jumlah_jam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Total jam pelatihan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nilai_kompetensi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Skor kompetensi (decimal)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source_system = lembaga_portal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Tracking sumber data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4754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🏋️ Manajemen Pelatihan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166360"/>
            <a:ext cx="1828800" cy="6400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Create</a:t>
            </a:r>
            <a:br/>
            <a:r>
              <a:t>Pelatihan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331719" y="5349240"/>
            <a:ext cx="274320" cy="22860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651760" y="5166360"/>
            <a:ext cx="1828800" cy="6400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Perawat</a:t>
            </a:r>
            <a:br/>
            <a:r>
              <a:t>Daftar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526279" y="5349240"/>
            <a:ext cx="274320" cy="22860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46320" y="5166360"/>
            <a:ext cx="1828800" cy="6400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Mark</a:t>
            </a:r>
            <a:br/>
            <a:r>
              <a:t>Lulus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720839" y="5349240"/>
            <a:ext cx="274320" cy="228600"/>
          </a:xfrm>
          <a:prstGeom prst="right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040879" y="5166360"/>
            <a:ext cx="1828800" cy="6400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Auto-Create</a:t>
            </a:r>
            <a:br/>
            <a:r>
              <a:t>Sertifikasi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915398" y="5349240"/>
            <a:ext cx="274320" cy="228600"/>
          </a:xfrm>
          <a:prstGeom prst="rightArrow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35440" y="5166360"/>
            <a:ext cx="1828800" cy="6400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Close</a:t>
            </a:r>
            <a:br/>
            <a:r>
              <a:t>Pelatihan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989320"/>
            <a:ext cx="11247120" cy="45720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0167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DE80"/>
                </a:solidFill>
                <a:latin typeface="Segoe UI"/>
              </a:defRPr>
            </a:pPr>
            <a:r>
              <a:t>💡 Peserta lulus → auto-create SertifikasiKompetensi linked ke Pelatihan. Status peserta: terdaftar → lulus | tidak_lulus | batal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Flow Regulator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Manajemen Legalitas STR &amp; Sinkronisasi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⚖️ Data Status Lifecycle (DataLegalitas)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828800"/>
            <a:ext cx="2011680" cy="54864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DRAFT</a:t>
            </a:r>
            <a:br/>
            <a:r>
              <a:t>(Created)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828800"/>
            <a:ext cx="2011680" cy="54864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SUBMITTED</a:t>
            </a:r>
            <a:br/>
            <a:r>
              <a:t>(Perawat Submit)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828800"/>
            <a:ext cx="2011680" cy="54864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6B6D4"/>
                </a:solidFill>
                <a:latin typeface="Segoe UI"/>
              </a:defRPr>
            </a:pPr>
            <a:r>
              <a:t>PENDING_SYNC</a:t>
            </a:r>
            <a:br/>
            <a:r>
              <a:t>(Request Sync)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331720" y="1965960"/>
            <a:ext cx="182880" cy="22860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4617720" y="1965960"/>
            <a:ext cx="182880" cy="22860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2743200"/>
            <a:ext cx="2011680" cy="54864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4ADE80"/>
                </a:solidFill>
                <a:latin typeface="Segoe UI"/>
              </a:defRPr>
            </a:pPr>
            <a:r>
              <a:t>VERIFIED ✅</a:t>
            </a:r>
            <a:br/>
            <a:r>
              <a:t>(STR Aktif)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743200"/>
            <a:ext cx="2011680" cy="54864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F4444"/>
                </a:solidFill>
                <a:latin typeface="Segoe UI"/>
              </a:defRPr>
            </a:pPr>
            <a:r>
              <a:t>REJECTED ❌</a:t>
            </a:r>
            <a:br/>
            <a:r>
              <a:t>(Ditolak)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2743200"/>
            <a:ext cx="2011680" cy="54864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EAB308"/>
                </a:solidFill>
                <a:latin typeface="Segoe UI"/>
              </a:defRPr>
            </a:pPr>
            <a:r>
              <a:t>EXPIRED ⏰</a:t>
            </a:r>
            <a:br/>
            <a:r>
              <a:t>(STR Expired)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66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📄 Document Review (STR &amp; Izin Luar Negeri)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931920"/>
            <a:ext cx="1920240" cy="5943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Upload</a:t>
            </a:r>
            <a:br/>
            <a:r>
              <a:t>Dokumen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240280" y="4114800"/>
            <a:ext cx="274320" cy="22860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560320" y="3931920"/>
            <a:ext cx="1920240" cy="5943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Status:</a:t>
            </a:r>
            <a:br/>
            <a:r>
              <a:t>PENDING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526280" y="4114800"/>
            <a:ext cx="274320" cy="228600"/>
          </a:xfrm>
          <a:prstGeom prst="rightArrow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846320" y="3931920"/>
            <a:ext cx="1920240" cy="5943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Regulator</a:t>
            </a:r>
            <a:br/>
            <a:r>
              <a:t>Review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812280" y="4114800"/>
            <a:ext cx="274320" cy="22860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32320" y="3931920"/>
            <a:ext cx="1920240" cy="5943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APPROVED ✅</a:t>
            </a:r>
            <a:br/>
            <a:r>
              <a:t>atau REJECTED ❌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098280" y="4114800"/>
            <a:ext cx="274320" cy="22860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18320" y="3931920"/>
            <a:ext cx="1920240" cy="5943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Audit</a:t>
            </a:r>
            <a:br/>
            <a:r>
              <a:t>Trail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754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📋 Fitur Regulator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512064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50292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Fitur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Endpoint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Keterangan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Input/Upsert Legalitas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POST /regulator/legalitas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Upsert by perawat_nik (create or update)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CSV Import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POST /regulator/legalitas/import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Batch import data STR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Data Review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PATCH /regulator/legalitas/data/{id}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Approve/reject data status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Document Review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PATCH /regulator/legalitas/documents/{id}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Approve/reject dokumen STR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STR Sync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POST /regulator/str-sync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Sinkronisasi dengan API regulator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Analytics Dashboard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GET /regulator/analytics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Distribusi STR, statistik verifikasi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Flow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Dashboard, User Management, dan Platform 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📊 Admin Dashboard Metrics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3736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2296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Kategori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Metrics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Perawat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Total, Ready, Fresh Graduate, Bekerja, Berpengalaman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STR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Aktif, Hold, Expired, Expiring 30 hari, Tanpa expiry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Lowongan &amp; Rekrutmen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Dibuka, Locked, Hired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Lamaran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Total, Diajukan, Diterima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Pending Items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Riwayat Pekerjaan, Sertifikasi, Legalitas, Users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Movement (range)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Perawat baru, Legalitas reviewed, Pengalaman verified, Hired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Trend Chart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Grafik harian CareerEvent per kategori (pendidikan/sertifikasi/legalitas/pengalaman)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206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⚙️ Fitur Administrasi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663440"/>
            <a:ext cx="2651760" cy="100584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4709160"/>
            <a:ext cx="2560320" cy="3657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4892040"/>
            <a:ext cx="457200" cy="45720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440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User Mgmt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715000"/>
            <a:ext cx="2377440" cy="-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Approve, Suspend,</a:t>
            </a:r>
            <a:br/>
            <a:r>
              <a:t>Activate, Reset PW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4663440"/>
            <a:ext cx="2651760" cy="100584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4709160"/>
            <a:ext cx="256032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4892040"/>
            <a:ext cx="457200" cy="4572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5440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API Keys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5715000"/>
            <a:ext cx="2377440" cy="-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Generate, Revoke,</a:t>
            </a:r>
            <a:br/>
            <a:r>
              <a:t>Rotate Signature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663440"/>
            <a:ext cx="2651760" cy="100584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4709160"/>
            <a:ext cx="25603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0" y="489204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5440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Webhooks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5715000"/>
            <a:ext cx="2377440" cy="-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Subscribe events,</a:t>
            </a:r>
            <a:br/>
            <a:r>
              <a:t>Manage deliveries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4663440"/>
            <a:ext cx="2651760" cy="100584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0" y="4709160"/>
            <a:ext cx="2560320" cy="3657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81160" y="4892040"/>
            <a:ext cx="457200" cy="45720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5440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Organisasi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5715000"/>
            <a:ext cx="2377440" cy="-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Institusi, Lembaga,</a:t>
            </a:r>
            <a:br/>
            <a:r>
              <a:t>Mitra, Regulator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760720"/>
            <a:ext cx="2651760" cy="100584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5806440"/>
            <a:ext cx="2560320" cy="365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" y="5989320"/>
            <a:ext cx="457200" cy="457200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👁️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37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Impersonation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812280"/>
            <a:ext cx="2377440" cy="-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Login sebagai</a:t>
            </a:r>
            <a:br/>
            <a:r>
              <a:t>user lain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37560" y="5760720"/>
            <a:ext cx="2651760" cy="100584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83280" y="5806440"/>
            <a:ext cx="256032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520440" y="5989320"/>
            <a:ext cx="457200" cy="4572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6537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Reports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6812280"/>
            <a:ext cx="2377440" cy="-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Export CSV:</a:t>
            </a:r>
            <a:br/>
            <a:r>
              <a:t>7 report types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760720"/>
            <a:ext cx="2651760" cy="100584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63640" y="5806440"/>
            <a:ext cx="256032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598932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🧪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6537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Demo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6812280"/>
            <a:ext cx="2377440" cy="-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Scenario runner</a:t>
            </a:r>
            <a:br/>
            <a:r>
              <a:t>(non-prod only)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98280" y="5760720"/>
            <a:ext cx="2651760" cy="100584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44000" y="5806440"/>
            <a:ext cx="256032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281160" y="5989320"/>
            <a:ext cx="457200" cy="4572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6537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Audit Logs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6812280"/>
            <a:ext cx="2377440" cy="-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Semua aksi</a:t>
            </a:r>
            <a:br/>
            <a:r>
              <a:t>admin tercatat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REST API 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API Endpoints, Authentication, dan Middleware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🔌 API Endpoints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3736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2286000"/>
                <a:gridCol w="41148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Method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Path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Scope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Deskripsi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POST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/api/v1/lulusan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lulusan:write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Input data lulusan via API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POST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/api/v1/sertifikasi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sertifikasi:write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Input sertifikasi via API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POST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/api/v1/legalitas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legalitas:write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Input/update data legalitas via API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GET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/api/v1/openapi.json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OpenAPI specification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291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🔗 API Middleware Stack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749039"/>
            <a:ext cx="1645920" cy="6400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API</a:t>
            </a:r>
            <a:br/>
            <a:r>
              <a:t>Middleware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965960" y="3931920"/>
            <a:ext cx="182880" cy="22860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94560" y="3749039"/>
            <a:ext cx="1645920" cy="6400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Request</a:t>
            </a:r>
            <a:br/>
            <a:r>
              <a:t>Logger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886200" y="3931920"/>
            <a:ext cx="182880" cy="22860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14800" y="3749039"/>
            <a:ext cx="1645920" cy="6400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API Key</a:t>
            </a:r>
            <a:br/>
            <a:r>
              <a:t>Auth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06440" y="3931920"/>
            <a:ext cx="182880" cy="228600"/>
          </a:xfrm>
          <a:prstGeom prst="right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0" y="3749039"/>
            <a:ext cx="1645920" cy="6400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Idempotency</a:t>
            </a:r>
            <a:br/>
            <a:r>
              <a:t>Check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726680" y="3931920"/>
            <a:ext cx="182880" cy="228600"/>
          </a:xfrm>
          <a:prstGeom prst="rightArrow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55280" y="3749039"/>
            <a:ext cx="1645920" cy="6400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Rate</a:t>
            </a:r>
            <a:br/>
            <a:r>
              <a:t>Limiter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646920" y="3931920"/>
            <a:ext cx="182880" cy="228600"/>
          </a:xfrm>
          <a:prstGeom prst="rightArrow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875520" y="3749039"/>
            <a:ext cx="1645920" cy="6400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Controller</a:t>
            </a:r>
            <a:br/>
            <a:r>
              <a:t>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63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🔐 Autentikasi API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502920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64008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Komponen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Header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Keterangan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API Key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X-Api-Key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Wajib. Key dipetakan ke owner (organisasi)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HMAC Signature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X-Signature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Opsional. SHA-256 signature jika require_signature=true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Idempotency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Idempotency-Key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Opsional. Mencegah duplicate request (auto-expire)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Scope Validation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-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Key harus punya scope sesuai endpoint (mis: lulusan:write)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Career Events &amp; Webhook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Timeline Otomatis &amp; Integrasi External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📅 Career Event Types (21 events)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3736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029200"/>
                <a:gridCol w="429768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Category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Event Keys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Trigger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pendidikan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lulusan.recorded, lulusan.status_changed, lulusan.updated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RiwayatPendidikan CRUD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sertifikasi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sertifikasi.recorded, verified, rejected, updated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SertifikasiKompetensi CRUD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legalitas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legalitas.draft, submitted, pending_sync, verified, expired, rejected, updated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DataLegalitas CRUD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pengalaman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pengalaman.recorded, submitted, verified, rejected, completed, resigned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RiwayatPekerjaan CRUD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kinerja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kinerja.updated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Evaluasi kinerja diupdate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840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🔄 Observer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297680"/>
            <a:ext cx="2286000" cy="54864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Model</a:t>
            </a:r>
            <a:br/>
            <a:r>
              <a:t>created/updated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88920" y="4434840"/>
            <a:ext cx="365760" cy="22860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0400" y="4297680"/>
            <a:ext cx="2286000" cy="54864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CareerEvent</a:t>
            </a:r>
            <a:br/>
            <a:r>
              <a:t>Observer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532120" y="4434840"/>
            <a:ext cx="365760" cy="22860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0" y="4297680"/>
            <a:ext cx="2286000" cy="54864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CareerEvent</a:t>
            </a:r>
            <a:br/>
            <a:r>
              <a:t>Service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275320" y="4434840"/>
            <a:ext cx="365760" cy="228600"/>
          </a:xfrm>
          <a:prstGeom prst="right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0" y="4297680"/>
            <a:ext cx="2286000" cy="54864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career_events</a:t>
            </a:r>
            <a:br/>
            <a:r>
              <a:t>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120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🔔 Webhook System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548640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  <a:gridCol w="45720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Event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Trigger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Payload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legalitas.data.verified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DataLegalitas data_status → verified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perawat_nik, nomor_str, status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sertifikasi.verified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SertifikasiKompetensi → verified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perawat_nik, nama_sertifikat, nomor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riwayat_pekerjaan.verified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RiwayatPekerjaan → verified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perawat_nik, mitra, posisi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Notification &amp; Scheduled Jobs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Sistem Notifikasi &amp; Penjadwalan Otomatis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🔔 8 Notification Types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3736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200400"/>
                <a:gridCol w="41148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Notification Class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Trigger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Recipient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LowonganBaruNotification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Lowongan baru dibuat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Perawat matching criteria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LamaranMasukNotification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Perawat melamar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User mitra terkait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LamaranStatusNotification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Lamaran diproses/ditolak/diterima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User perawat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LegalitasDataStatusNotification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Data status legalitas berubah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User perawat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LegalitasDocumentStatusNotification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Dokumen STR di-review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User perawat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RiwayatPekerjaanStatusNotification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Riwayat pekerjaan verified/rejected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User perawat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SertifikasiStatusNotification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Sertifikasi verified/rejected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User perawat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ExperienceSyncFailedNotification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Sync pengalaman gagal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User mitra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389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⏰ Scheduled Jobs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75488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59436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Schedule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 / Job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Deskripsi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Daily 01:00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legalitas:sync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Sinkronisasi status legalitas STR dengan API regulator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Daily 02:00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api:idempotency:purge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Hapus idempotency key yang expired atau stale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Hourly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SyncExperienceJob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Sinkronisasi pengalaman kerja dari mitra yang enable sync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577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🛠️ Custom Artisan Commands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97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demo:refresh — Reset &amp; seed demo data (non-production only, requires DEMO_SEED=true)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demo:scenario — Jalankan timeline demo 1 perawat sesuai alur PDF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CBD5E1"/>
                </a:solidFill>
                <a:latin typeface="Segoe UI"/>
              </a:defRPr>
            </a:pPr>
            <a:r>
              <a:t>• preflight:perawat-identity — Check mismatch perawat_id/nik sebelum production migrate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Data Verification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Bagaimana Perawat Menjadi 'Ready to Hire'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2743200" cy="11887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🎓 KAMPUS</a:t>
            </a:r>
            <a:br/>
            <a:br/>
            <a:r>
              <a:t>Input Lulusan →</a:t>
            </a:r>
            <a:br/>
            <a:r>
              <a:t>RiwayatPendidikan</a:t>
            </a:r>
            <a:br/>
            <a:r>
              <a:t>status = verified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371600"/>
            <a:ext cx="2743200" cy="11887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📜 LEMBAGA</a:t>
            </a:r>
            <a:br/>
            <a:br/>
            <a:r>
              <a:t>Input Sertifikasi →</a:t>
            </a:r>
            <a:br/>
            <a:r>
              <a:t>SertifikasiKompetensi</a:t>
            </a:r>
            <a:br/>
            <a:r>
              <a:t>pending → verified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2743200" cy="11887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⚖️ REGULATOR</a:t>
            </a:r>
            <a:br/>
            <a:br/>
            <a:r>
              <a:t>Input Legalitas →</a:t>
            </a:r>
            <a:br/>
            <a:r>
              <a:t>DataLegalitas</a:t>
            </a:r>
            <a:br/>
            <a:r>
              <a:t>draft → verified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1371600"/>
            <a:ext cx="2743200" cy="11887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🏢 MITRA</a:t>
            </a:r>
            <a:br/>
            <a:br/>
            <a:r>
              <a:t>Riwayat Pekerjaan →</a:t>
            </a:r>
            <a:br/>
            <a:r>
              <a:t>pending → verified</a:t>
            </a:r>
            <a:br/>
            <a:r>
              <a:t>(affects ketenagakerjaan)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188720" y="2651760"/>
            <a:ext cx="228600" cy="320040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4114800" y="2651760"/>
            <a:ext cx="228600" cy="320040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7040880" y="2651760"/>
            <a:ext cx="228600" cy="320040"/>
          </a:xfrm>
          <a:prstGeom prst="down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86000" y="3108960"/>
            <a:ext cx="7315200" cy="64008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PerawatStatusService::refresh()  →  Cek 3 syarat: Pendidikan ✅ + Sertifikasi ✅ + Legalitas ✅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760720" y="3840480"/>
            <a:ext cx="228600" cy="320040"/>
          </a:xfrm>
          <a:prstGeom prst="down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00400" y="4297680"/>
            <a:ext cx="5486400" cy="54864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4ADE80"/>
                </a:solidFill>
                <a:latin typeface="Segoe UI"/>
              </a:defRPr>
            </a:pPr>
            <a:r>
              <a:t>🎯 status_kesiapan = READY_TO_HIRE  →  Bisa melamar lowongan &amp; muncul di talent pool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120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🏷️ Source Tracking (Provenance)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548640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54864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source_system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source_actor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Konteks</a:t>
                      </a:r>
                    </a:p>
                  </a:txBody>
                  <a:tcPr marL="73152" marR="73152" marT="36576" marB="36576"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kampus_portal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kampus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Data lulusan dari kampus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lembaga_portal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lembaga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Sertifikasi dari lembaga pelatihan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regulator_portal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regulator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Data legalitas STR dari regulator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mitra_portal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mitra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Riwayat pekerjaan dari mitra/employer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perawat_portal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perawat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Self-reported data dari perawat</a:t>
                      </a:r>
                    </a:p>
                  </a:txBody>
                  <a:tcPr marL="73152" marR="73152" marT="36576" marB="36576">
                    <a:solidFill>
                      <a:srgbClr val="151F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api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api_client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Data via REST API v1</a:t>
                      </a:r>
                    </a:p>
                  </a:txBody>
                  <a:tcPr marL="73152" marR="73152" marT="36576" marB="36576">
                    <a:solidFill>
                      <a:srgbClr val="1A24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Recruitment Pipeline —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2 Jalur Rekrutmen: Via Lowongan &amp; Direct Hire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📋 Jalur 1: Via Lowongan (Application-based)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783080"/>
            <a:ext cx="1691640" cy="68580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Mitra buat</a:t>
            </a:r>
            <a:br/>
            <a:r>
              <a:t>Lowongan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11680" y="2011680"/>
            <a:ext cx="182880" cy="22860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40280" y="1783080"/>
            <a:ext cx="1691640" cy="68580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Notif ke</a:t>
            </a:r>
            <a:br/>
            <a:r>
              <a:t>Perawat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77640" y="2011680"/>
            <a:ext cx="182880" cy="22860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06240" y="1783080"/>
            <a:ext cx="1691640" cy="68580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Perawat</a:t>
            </a:r>
            <a:br/>
            <a:r>
              <a:t>Apply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43600" y="2011680"/>
            <a:ext cx="182880" cy="228600"/>
          </a:xfrm>
          <a:prstGeom prst="right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199" y="1783080"/>
            <a:ext cx="1691640" cy="68580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Mitra</a:t>
            </a:r>
            <a:br/>
            <a:r>
              <a:t>Process/Lock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909559" y="2011680"/>
            <a:ext cx="182880" cy="228600"/>
          </a:xfrm>
          <a:prstGeom prst="rightArrow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60" y="1783080"/>
            <a:ext cx="1691640" cy="68580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Mitra Hire</a:t>
            </a:r>
            <a:br/>
            <a:r>
              <a:t>→ DITERIMA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875520" y="2011680"/>
            <a:ext cx="182880" cy="22860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104120" y="1783080"/>
            <a:ext cx="1691640" cy="68580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Auto-create</a:t>
            </a:r>
            <a:br/>
            <a:r>
              <a:t>Riwayat Kerja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743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🎯 Jalur 2: Direct Hire (Talent Pool)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54680"/>
            <a:ext cx="2011680" cy="68580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Browse</a:t>
            </a:r>
            <a:br/>
            <a:r>
              <a:t>Kandidat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331720" y="3383280"/>
            <a:ext cx="228600" cy="22860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606040" y="3154680"/>
            <a:ext cx="2011680" cy="68580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Filter &amp;</a:t>
            </a:r>
            <a:br/>
            <a:r>
              <a:t>Search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663440" y="3383280"/>
            <a:ext cx="228600" cy="22860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937760" y="3154680"/>
            <a:ext cx="2011680" cy="68580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Lock</a:t>
            </a:r>
            <a:br/>
            <a:r>
              <a:t>Kandidat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995160" y="3383280"/>
            <a:ext cx="228600" cy="228600"/>
          </a:xfrm>
          <a:prstGeom prst="rightArrow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79" y="3154680"/>
            <a:ext cx="2011680" cy="68580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Hire</a:t>
            </a:r>
            <a:br/>
            <a:r>
              <a:t>Kandidat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326879" y="3383280"/>
            <a:ext cx="228600" cy="22860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01200" y="3154680"/>
            <a:ext cx="2011680" cy="68580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Auto-create</a:t>
            </a:r>
            <a:br/>
            <a:r>
              <a:t>Riwayat Kerja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114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⚡ Post-Hire Effects (kedua jalur)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526280"/>
            <a:ext cx="1920240" cy="5943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Rekrutmen</a:t>
            </a:r>
            <a:br/>
            <a:r>
              <a:t>HIRED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2423160" y="4663440"/>
            <a:ext cx="182880" cy="22860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651760" y="4526280"/>
            <a:ext cx="1920240" cy="5943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RiwayatPekerjaan</a:t>
            </a:r>
            <a:br/>
            <a:r>
              <a:t>created (verified)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617720" y="4663440"/>
            <a:ext cx="182880" cy="228600"/>
          </a:xfrm>
          <a:prstGeom prst="right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846320" y="4526280"/>
            <a:ext cx="1920240" cy="5943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Status →</a:t>
            </a:r>
            <a:br/>
            <a:r>
              <a:t>BEKERJA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6812280" y="4663440"/>
            <a:ext cx="182880" cy="228600"/>
          </a:xfrm>
          <a:prstGeom prst="rightArrow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040879" y="4526280"/>
            <a:ext cx="1920240" cy="5943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CareerEvent</a:t>
            </a:r>
            <a:br/>
            <a:r>
              <a:t>recorded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006839" y="4663440"/>
            <a:ext cx="182880" cy="228600"/>
          </a:xfrm>
          <a:prstGeom prst="rightArrow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35440" y="4526280"/>
            <a:ext cx="1920240" cy="5943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Webhook</a:t>
            </a:r>
            <a:br/>
            <a:r>
              <a:t>dispatched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394960"/>
            <a:ext cx="11247120" cy="118872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440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📊 Ringkasan Komponen Sistem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806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• 31 Models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0320" y="5806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DE80"/>
                </a:solidFill>
                <a:latin typeface="Segoe UI"/>
              </a:defRPr>
            </a:pPr>
            <a:r>
              <a:t>• 43 Controllers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5806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Segoe UI"/>
              </a:defRPr>
            </a:pPr>
            <a:r>
              <a:t>• 22 Services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5806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472B6"/>
                </a:solidFill>
                <a:latin typeface="Segoe UI"/>
              </a:defRPr>
            </a:pPr>
            <a:r>
              <a:t>• 8 Roles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0" y="5806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Segoe UI"/>
              </a:defRPr>
            </a:pPr>
            <a:r>
              <a:t>• 7 Policies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5806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• 8 Notifications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6126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AB308"/>
                </a:solidFill>
                <a:latin typeface="Segoe UI"/>
              </a:defRPr>
            </a:pPr>
            <a:r>
              <a:t>• 3 Observers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60320" y="6126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Segoe UI"/>
              </a:defRPr>
            </a:pPr>
            <a:r>
              <a:t>• 3 Jobs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9120" y="6126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• 59 Migrations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6126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• 140+ Endpoints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20" y="6126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DE80"/>
                </a:solidFill>
                <a:latin typeface="Segoe UI"/>
              </a:defRPr>
            </a:pPr>
            <a:r>
              <a:t>• 4 API Routes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75520" y="6126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Segoe UI"/>
              </a:defRPr>
            </a:pPr>
            <a:r>
              <a:t>• 3 Scheduled Tasks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Terima Kasih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743200"/>
            <a:ext cx="2133295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8BDF8"/>
                </a:solidFill>
                <a:latin typeface="Segoe UI"/>
              </a:defRPr>
            </a:pPr>
            <a:r>
              <a:t>Platform Keperawatan Indonesia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Comprehensive Application Flow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Dipelajari dari 31 Models · 43 Controllers · 22 Services · 59 Migrations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Kode Demi Kode · Detail Demi Detail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